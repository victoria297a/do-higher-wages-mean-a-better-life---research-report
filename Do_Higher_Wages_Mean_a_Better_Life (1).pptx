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9" r:id="rId20"/>
    <p:sldId id="270" r:id="rId2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chart_scatter.png"/><Relationship Id="rId3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chart_dumbbell.png"/><Relationship Id="rId3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chart_capital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4F8C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3657600" cy="3657600"/>
          </a:xfrm>
          <a:prstGeom prst="ellipse">
            <a:avLst/>
          </a:prstGeom>
          <a:solidFill>
            <a:srgbClr val="33D4A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NUTS-2 REGIONAL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Higher Wages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4F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a Better Life?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Regional Well-Being Across Europe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6400800" cy="13716"/>
          </a:xfrm>
          <a:prstGeom prst="rect">
            <a:avLst/>
          </a:prstGeom>
          <a:solidFill>
            <a:srgbClr val="4F8C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Regions  ·  27 EU States  ·  5 Well-Being Indicators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University &amp; MCC AI Workshop  ·  May 2026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840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Wages Alone Don't Tell the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worker in Hamburg earns roughly ten times more than one in Severozapaden, Bulgaria. But does earning more automatically translate into living better?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08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3931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€15k in Prague may buy as much as €25k in Lisbon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29000" y="29260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108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611880" y="3931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Campania matches Berlin on life expectancy at half the GDP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292608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089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3566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Access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00800" y="3931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Brussels: €61k wages but only 66.5% employment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Dimensions of Well-Being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530352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530352"/>
          </a:xfrm>
          <a:prstGeom prst="rect">
            <a:avLst/>
          </a:prstGeom>
          <a:solidFill>
            <a:srgbClr val="4F8C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961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(PPS)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14173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Purchasing-power adjusted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78638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057400"/>
            <a:ext cx="54864" cy="530352"/>
          </a:xfrm>
          <a:prstGeom prst="rect">
            <a:avLst/>
          </a:prstGeom>
          <a:solidFill>
            <a:srgbClr val="2B4C7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969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05740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/ Employee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54880" y="20574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wages in €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697480"/>
            <a:ext cx="7863840" cy="530352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2697480"/>
            <a:ext cx="54864" cy="530352"/>
          </a:xfrm>
          <a:prstGeom prst="rect">
            <a:avLst/>
          </a:prstGeom>
          <a:solidFill>
            <a:srgbClr val="FFAD3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797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697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0" y="26974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labour force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337560"/>
            <a:ext cx="78638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337560"/>
            <a:ext cx="54864" cy="53035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1985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3375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754880" y="33375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birth, both sexes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3977640"/>
            <a:ext cx="7863840" cy="530352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3977640"/>
            <a:ext cx="54864" cy="530352"/>
          </a:xfrm>
          <a:prstGeom prst="rect">
            <a:avLst/>
          </a:prstGeom>
          <a:solidFill>
            <a:srgbClr val="33D4A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5993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39776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Rate (20-64)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54880" y="39776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actually in work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Eurostat datasets nama_10r_2gdp, nama_10r_2lp10, tgs00010, demo_r_mlifexp  ·  2022–2023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Wages Track GDP — With Exceptions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solidFill>
            <a:srgbClr val="4F8C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0.80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overall link, but Central/Eastern regions show higher purchasing power relative to nominal wages.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Ireland's Eastern region is a dramatic outlier — GDP inflated by multinational profits, not household prosperity.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Wage–Unemployment Disconnect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solidFill>
            <a:srgbClr val="FF6B6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−0.10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Striking Finding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correlation! High wages do not guarantee low unemployment.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Andalucía (18.5%), Campania (17.8%): moderate wages but massive joblessness.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has access to those wages?" matters more than how high they are.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Southern Paradox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943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solidFill>
            <a:srgbClr val="FFAD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FFF8EE"/>
          </a:solidFill>
          <a:ln/>
        </p:spPr>
      </p:sp>
      <p:sp>
        <p:nvSpPr>
          <p:cNvPr id="9" name="Shape 5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FFAD33"/>
          </a:solidFill>
          <a:ln/>
        </p:spPr>
      </p:sp>
      <p:sp>
        <p:nvSpPr>
          <p:cNvPr id="10" name="Text 6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Paradox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regions achieve 81–85 yr life expectancy on modest incomes.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Campania: €19,800 GDP → 81.2 yr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Berlin: €42,800 GDP → 80.9 yr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diet, climate, social cohesion, and universal healthcare generate health outcomes that richer regions struggle to match.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Capital Paradox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594360"/>
            <a:ext cx="411480" cy="4114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7" name="Shape 3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4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Wages, Lower Employment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Brussels: €61,200 wages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66.5% employment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12pp below West Flanders (78.5%)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attract HQ jobs but concentrate structural unemployment invisible in averages.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Five Indicators Relate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234440"/>
            <a:ext cx="4114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2237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→ GDP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223760" y="2121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→ Life Exp.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27797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23760" y="27797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→ Emp. Rate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3438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223760" y="34381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→ Unemp.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40965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223760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Unemp. → Emp.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GROUPS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Group Wins Everywhere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606040" cy="54864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/ North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regions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€45,808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8346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 yr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371600"/>
            <a:ext cx="2606040" cy="54864"/>
          </a:xfrm>
          <a:prstGeom prst="rect">
            <a:avLst/>
          </a:prstGeom>
          <a:solidFill>
            <a:srgbClr val="FF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regions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€25,363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 yr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37160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33D4A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554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/ East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regions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€13,188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28346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383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 yr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E8EDF5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89120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80160" y="4297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C/E has lowest wages but lowest unemployment. South has highest unemployment but highest life expectancy.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Variation Within and Between Groups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5029200" cy="26517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34440"/>
            <a:ext cx="4754880" cy="2651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Europe shows the widest spread on unemployment (3–18%) while achieving the tightest clustering on life expectancy (80–85 years). Central/Eastern regions cluster tightly on unemployment but diverge sharply on GDP.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Accelerated This Research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572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786384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325880"/>
            <a:ext cx="54864" cy="5486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325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Eurostat datasets at NUTS-2, designed multi-dimensional framework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1993392"/>
            <a:ext cx="786384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1993392"/>
            <a:ext cx="54864" cy="5486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19933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19933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108960" y="19933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variable-pair visualisations, detected wage–unemployment disconnect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660904"/>
            <a:ext cx="786384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2660904"/>
            <a:ext cx="54864" cy="5486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26609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26609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108960" y="26609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patterns to economics: Southern Paradox, Capital Paradox, PPP effects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3328416"/>
            <a:ext cx="786384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080" y="3328416"/>
            <a:ext cx="54864" cy="5486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33284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332841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108960" y="3328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charts, regional comparisons, narrative structure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3995928"/>
            <a:ext cx="786384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" y="3995928"/>
            <a:ext cx="54864" cy="54864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39959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1600" y="3995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Creation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108960" y="39959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formatted report, presentation, and interactive dashboard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accelerated exploration and iteration, but economic reasoning and judgment on defensible interpretations remained essential human contributions.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F8C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3D4A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Patterns That Challenge the Assumption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54864" cy="822960"/>
          </a:xfrm>
          <a:prstGeom prst="rect">
            <a:avLst/>
          </a:prstGeom>
          <a:solidFill>
            <a:srgbClr val="FFAD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54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Southern Paradox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920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incomes, world-class health outcomes. Mediterranean diet, climate, and universal healthcare outweigh GDP above a threshold.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60320"/>
            <a:ext cx="54864" cy="8229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603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Paradox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wealth conceals deep inequality. The highest-wage regions often have the lowest employment participation.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566160"/>
            <a:ext cx="54864" cy="822960"/>
          </a:xfrm>
          <a:prstGeom prst="rect">
            <a:avLst/>
          </a:prstGeom>
          <a:solidFill>
            <a:srgbClr val="33D4A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66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D4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 Convergence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Central/Eastern convergence is further along than nominal comparisons suggest. PPP adjustment reshapes the map.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7863840" cy="13716"/>
          </a:xfrm>
          <a:prstGeom prst="rect">
            <a:avLst/>
          </a:prstGeom>
          <a:solidFill>
            <a:srgbClr val="4F8CFF">
              <a:alpha val="40000"/>
            </a:srgbClr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57200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2194560" y="4526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D2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life depends not only on how much people earn, but on how much economic security and quality of life those wages actually create.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Wages vs Life Expectancy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943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solidFill>
            <a:srgbClr val="FFAD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0.67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FFF8EE"/>
          </a:solidFill>
          <a:ln/>
        </p:spPr>
      </p:sp>
      <p:sp>
        <p:nvSpPr>
          <p:cNvPr id="9" name="Shape 5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FFAD33"/>
          </a:solidFill>
          <a:ln/>
        </p:spPr>
      </p:sp>
      <p:sp>
        <p:nvSpPr>
          <p:cNvPr id="10" name="Text 6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regions cluster at high life expectancy despite low wages, matching wealthy Western regions.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Campania: €19.8k → 81.2 yr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Hamburg: €52k → 80.5 yr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Central/Eastern regions show a clear life expectancy penalty, but the gap narrows at higher wage levels.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Nominal vs PPP-Adjusted Wages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943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solidFill>
            <a:srgbClr val="FFAD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Gap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FFF8EE"/>
          </a:solidFill>
          <a:ln/>
        </p:spPr>
      </p:sp>
      <p:sp>
        <p:nvSpPr>
          <p:cNvPr id="9" name="Shape 5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FFAD33"/>
          </a:solidFill>
          <a:ln/>
        </p:spPr>
      </p:sp>
      <p:sp>
        <p:nvSpPr>
          <p:cNvPr id="10" name="Text 6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Effect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adjusting for purchasing power, the East-West wage gap shrinks dramatically.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București: €16.5k → €27k (+64%)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Stockholm: €49k → €42k (−14%)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Central/Eastern convergence is further along than nominal comparisons suggest. PPP adjustment reshapes the map of European well-being.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Capital Paradox Visualised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5943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solidFill>
            <a:srgbClr val="FFAD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0" y="457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−12pp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669280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371600"/>
            <a:ext cx="2560320" cy="3291840"/>
          </a:xfrm>
          <a:prstGeom prst="rect">
            <a:avLst/>
          </a:prstGeom>
          <a:solidFill>
            <a:srgbClr val="FFF8EE"/>
          </a:solidFill>
          <a:ln/>
        </p:spPr>
      </p:sp>
      <p:sp>
        <p:nvSpPr>
          <p:cNvPr id="9" name="Shape 5"/>
          <p:cNvSpPr/>
          <p:nvPr/>
        </p:nvSpPr>
        <p:spPr>
          <a:xfrm>
            <a:off x="6217920" y="1371600"/>
            <a:ext cx="54864" cy="3291840"/>
          </a:xfrm>
          <a:prstGeom prst="rect">
            <a:avLst/>
          </a:prstGeom>
          <a:solidFill>
            <a:srgbClr val="FFAD33"/>
          </a:solidFill>
          <a:ln/>
        </p:spPr>
      </p:sp>
      <p:sp>
        <p:nvSpPr>
          <p:cNvPr id="10" name="Text 6"/>
          <p:cNvSpPr/>
          <p:nvPr/>
        </p:nvSpPr>
        <p:spPr>
          <a:xfrm>
            <a:off x="6446520" y="150876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vs Surrounding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regions earn far more but often employ fewer people than surrounding areas.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Brussels: €61.2k wages, 66.5% emp.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Flanders: €42k wages, 78.5% emp.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attract HQ jobs but concentrate structural unemployment invisible in wage averages.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Higher Wages Mean a Better Life?</dc:title>
  <dc:subject>PptxGenJS Presentation</dc:subject>
  <dc:creator>Modul University / MCC AI Workshop</dc:creator>
  <cp:lastModifiedBy>Modul University / MCC AI Workshop</cp:lastModifiedBy>
  <cp:revision>1</cp:revision>
  <dcterms:created xsi:type="dcterms:W3CDTF">2026-05-09T08:55:20Z</dcterms:created>
  <dcterms:modified xsi:type="dcterms:W3CDTF">2026-05-09T08:55:20Z</dcterms:modified>
</cp:coreProperties>
</file>